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7A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828800"/>
            <a:ext cx="914400" cy="914400"/>
          </a:xfrm>
          <a:prstGeom prst="roundRect">
            <a:avLst/>
          </a:prstGeom>
          <a:solidFill>
            <a:srgbClr val="F7A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91440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0A1730"/>
                </a:solidFill>
                <a:latin typeface="Microsoft JhengHei"/>
                <a:ea typeface="Microsoft JhengHei"/>
              </a:rPr>
              <a:t>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737360"/>
            <a:ext cx="1005840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ECF2FB"/>
                </a:solidFill>
                <a:latin typeface="Microsoft JhengHei"/>
                <a:ea typeface="Microsoft JhengHei"/>
              </a:rPr>
              <a:t>PressPlay AI 智慧學習生態系升級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5D0EE"/>
                </a:solidFill>
                <a:latin typeface="Microsoft JhengHei"/>
                <a:ea typeface="Microsoft JhengHei"/>
              </a:rPr>
              <a:t>從對話到多元應用：主動進化 × 多維賦能的 AI 智慧對話助教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05840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9FB2CE"/>
                </a:solidFill>
                <a:latin typeface="Microsoft JhengHei"/>
                <a:ea typeface="Microsoft JhengHei"/>
              </a:rPr>
              <a:t>讓被證實有效的 AI 助教（用了影片觀看 +700%），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9FB2CE"/>
                </a:solidFill>
                <a:latin typeface="Microsoft JhengHei"/>
                <a:ea typeface="Microsoft JhengHei"/>
              </a:rPr>
              <a:t>從『少數會員的被動客服』進化為『主動、多維、跨場景』的學習引擎。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69280"/>
            <a:ext cx="1005840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CF2FB"/>
                </a:solidFill>
                <a:latin typeface="Microsoft JhengHei"/>
                <a:ea typeface="Microsoft JhengHei"/>
              </a:rPr>
              <a:t>團隊 fish  ｜  AWS Summit Taipei 2026 × PressPlay Academy Hackathon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PressPlay AI 智慧學習生態系 · 團隊 fish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7A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D0EE"/>
                </a:solidFill>
                <a:latin typeface="Microsoft JhengHei"/>
                <a:ea typeface="Microsoft JhengHei"/>
              </a:rP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F2FB"/>
                </a:solidFill>
                <a:latin typeface="Microsoft JhengHei"/>
                <a:ea typeface="Microsoft JhengHei"/>
              </a:rPr>
              <a:t>命題與核心挑戰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8229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2B4574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1064240" cy="1005840"/>
          </a:xfrm>
          <a:prstGeom prst="roundRect">
            <a:avLst/>
          </a:prstGeom>
          <a:solidFill>
            <a:srgbClr val="0E2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51560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7A81B"/>
                </a:solidFill>
                <a:latin typeface="Microsoft JhengHei"/>
                <a:ea typeface="Microsoft JhengHei"/>
              </a:rPr>
              <a:t>「從對話到多元應用：打造具備主動進化與多維賦能的 AI 智慧對話助教」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743200"/>
            <a:ext cx="5394960" cy="1920240"/>
          </a:xfrm>
          <a:prstGeom prst="round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484632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7A81B"/>
                </a:solidFill>
                <a:latin typeface="Microsoft JhengHei"/>
                <a:ea typeface="Microsoft JhengHei"/>
              </a:rPr>
              <a:t>AI 助教 DAU / MAU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4846320" cy="10972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ECF2FB"/>
                </a:solidFill>
                <a:latin typeface="Microsoft JhengHei"/>
                <a:ea typeface="Microsoft JhengHei"/>
              </a:rPr>
              <a:t>29%  →  &lt;10%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97680"/>
            <a:ext cx="48463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9FB2CE"/>
                </a:solidFill>
                <a:latin typeface="Microsoft JhengHei"/>
                <a:ea typeface="Microsoft JhengHei"/>
              </a:rPr>
              <a:t>用的人在流失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743200"/>
            <a:ext cx="5394960" cy="1920240"/>
          </a:xfrm>
          <a:prstGeom prst="round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926080"/>
            <a:ext cx="484632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7A81B"/>
                </a:solidFill>
                <a:latin typeface="Microsoft JhengHei"/>
                <a:ea typeface="Microsoft JhengHei"/>
              </a:rPr>
              <a:t>使用 AI 助教的學習深度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383280"/>
            <a:ext cx="484632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3DDC97"/>
                </a:solidFill>
                <a:latin typeface="Microsoft JhengHei"/>
                <a:ea typeface="Microsoft JhengHei"/>
              </a:rPr>
              <a:t>平均影片觀看次  +700%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CF2FB"/>
                </a:solidFill>
                <a:latin typeface="Microsoft JhengHei"/>
                <a:ea typeface="Microsoft JhengHei"/>
              </a:rPr>
              <a:t>平均 Session 數  +84%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CF2FB"/>
                </a:solidFill>
                <a:latin typeface="Microsoft JhengHei"/>
                <a:ea typeface="Microsoft JhengHei"/>
              </a:rPr>
              <a:t>平均活躍天數  +52%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46320"/>
            <a:ext cx="11064240" cy="1005840"/>
          </a:xfrm>
          <a:prstGeom prst="roundRect">
            <a:avLst/>
          </a:prstGeom>
          <a:solidFill>
            <a:srgbClr val="0E2044"/>
          </a:solidFill>
          <a:ln w="12700">
            <a:solidFill>
              <a:srgbClr val="F7A8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983480"/>
            <a:ext cx="1051560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CF2FB"/>
                </a:solidFill>
                <a:latin typeface="Microsoft JhengHei"/>
                <a:ea typeface="Microsoft JhengHei"/>
              </a:rPr>
              <a:t>核心挑戰：如何將 AI 的技術與服務，擴大至更多元化的學習場景中？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PressPlay AI 智慧學習生態系 · 團隊 fish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7A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D0EE"/>
                </a:solidFill>
                <a:latin typeface="Microsoft JhengHei"/>
                <a:ea typeface="Microsoft JhengHei"/>
              </a:rPr>
              <a:t>THE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F2FB"/>
                </a:solidFill>
                <a:latin typeface="Microsoft JhengHei"/>
                <a:ea typeface="Microsoft JhengHei"/>
              </a:rPr>
              <a:t>矛盾核心：效果極強，觸及極弱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8229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2B4574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5D0EE"/>
                </a:solidFill>
                <a:latin typeface="Microsoft JhengHei"/>
                <a:ea typeface="Microsoft JhengHei"/>
              </a:rPr>
              <a:t>AI 助教不是沒用 —— 是用的人在流失。真正要解的是「擴散」與「留住」。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3566160" cy="1828800"/>
          </a:xfrm>
          <a:prstGeom prst="round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423160"/>
            <a:ext cx="31089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FB2CE"/>
                </a:solidFill>
                <a:latin typeface="Microsoft JhengHei"/>
                <a:ea typeface="Microsoft JhengHei"/>
              </a:rPr>
              <a:t>AI 助教滲透率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31089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26D6D"/>
                </a:solidFill>
                <a:latin typeface="Microsoft JhengHei"/>
                <a:ea typeface="Microsoft JhengHei"/>
              </a:rPr>
              <a:t>11.7%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657600"/>
            <a:ext cx="31089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FB2CE"/>
                </a:solidFill>
                <a:latin typeface="Microsoft JhengHei"/>
                <a:ea typeface="Microsoft JhengHei"/>
              </a:rPr>
              <a:t>被動、會員專屬、等你發問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2286000"/>
            <a:ext cx="3566160" cy="1828800"/>
          </a:xfrm>
          <a:prstGeom prst="round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1089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FB2CE"/>
                </a:solidFill>
                <a:latin typeface="Microsoft JhengHei"/>
                <a:ea typeface="Microsoft JhengHei"/>
              </a:rPr>
              <a:t>知識挑戰滲透率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834640"/>
            <a:ext cx="31089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7A81B"/>
                </a:solidFill>
                <a:latin typeface="Microsoft JhengHei"/>
                <a:ea typeface="Microsoft JhengHei"/>
              </a:rPr>
              <a:t>42%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657600"/>
            <a:ext cx="31089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FB2CE"/>
                </a:solidFill>
                <a:latin typeface="Microsoft JhengHei"/>
                <a:ea typeface="Microsoft JhengHei"/>
              </a:rPr>
              <a:t>人氣高，但流量停在挑戰頁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80" y="2286000"/>
            <a:ext cx="3566160" cy="1828800"/>
          </a:xfrm>
          <a:prstGeom prst="round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2423160"/>
            <a:ext cx="31089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FB2CE"/>
                </a:solidFill>
                <a:latin typeface="Microsoft JhengHei"/>
                <a:ea typeface="Microsoft JhengHei"/>
              </a:rPr>
              <a:t>知識挑戰 DAU/MAU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834640"/>
            <a:ext cx="31089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7A81B"/>
                </a:solidFill>
                <a:latin typeface="Microsoft JhengHei"/>
                <a:ea typeface="Microsoft JhengHei"/>
              </a:rPr>
              <a:t>27%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3657600"/>
            <a:ext cx="31089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FB2CE"/>
                </a:solidFill>
                <a:latin typeface="Microsoft JhengHei"/>
                <a:ea typeface="Microsoft JhengHei"/>
              </a:rPr>
              <a:t>沒有回流到 AI 與課程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389120"/>
            <a:ext cx="11064240" cy="1554480"/>
          </a:xfrm>
          <a:prstGeom prst="roundRect">
            <a:avLst/>
          </a:prstGeom>
          <a:solidFill>
            <a:srgbClr val="0E2044"/>
          </a:solidFill>
          <a:ln w="12700">
            <a:solidFill>
              <a:srgbClr val="F7A8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572000"/>
            <a:ext cx="1051560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7A81B"/>
                </a:solidFill>
                <a:latin typeface="Microsoft JhengHei"/>
                <a:ea typeface="Microsoft JhengHei"/>
              </a:rPr>
              <a:t>⚑ 官方拋出的質疑（本案必須正面回答）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ECF2FB"/>
                </a:solidFill>
                <a:latin typeface="Microsoft JhengHei"/>
                <a:ea typeface="Microsoft JhengHei"/>
              </a:rPr>
              <a:t>「遊戲化滲透率雖高，但無法確認能讓用戶看更多影片。」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9FB2CE"/>
                </a:solidFill>
                <a:latin typeface="Microsoft JhengHei"/>
                <a:ea typeface="Microsoft JhengHei"/>
              </a:rPr>
              <a:t>→ 我們的中心假設：用機制 + 數據，證明「遊戲化 → 帶動看課 / 拉高滲透率」。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PressPlay AI 智慧學習生態系 · 團隊 fish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7A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D0EE"/>
                </a:solidFill>
                <a:latin typeface="Microsoft JhengHei"/>
                <a:ea typeface="Microsoft JhengHei"/>
              </a:rPr>
              <a:t>DATA-DRIVEN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F2FB"/>
                </a:solidFill>
                <a:latin typeface="Microsoft JhengHei"/>
                <a:ea typeface="Microsoft JhengHei"/>
              </a:rPr>
              <a:t>我們實跑 Dataset 的斷點鐵證（可複現）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8229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2B4574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1064240" cy="960120"/>
          </a:xfrm>
          <a:prstGeom prst="round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55648"/>
            <a:ext cx="310896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D0EE"/>
                </a:solidFill>
                <a:latin typeface="Microsoft JhengHei"/>
                <a:ea typeface="Microsoft JhengHei"/>
              </a:rPr>
              <a:t>39.6%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755648"/>
            <a:ext cx="7315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ECF2FB"/>
                </a:solidFill>
                <a:latin typeface="Microsoft JhengHei"/>
                <a:ea typeface="Microsoft JhengHei"/>
              </a:rPr>
              <a:t>的 AI 對話，用戶只問一次就離開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06624"/>
            <a:ext cx="11064240" cy="960120"/>
          </a:xfrm>
          <a:prstGeom prst="round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816352"/>
            <a:ext cx="310896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ECF2FB"/>
                </a:solidFill>
                <a:latin typeface="Microsoft JhengHei"/>
                <a:ea typeface="Microsoft JhengHei"/>
              </a:rPr>
              <a:t>6.68 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816352"/>
            <a:ext cx="7315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ECF2FB"/>
                </a:solidFill>
                <a:latin typeface="Microsoft JhengHei"/>
                <a:ea typeface="Microsoft JhengHei"/>
              </a:rPr>
              <a:t>平均每段對話訊息數（約 3.4 個來回）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67328"/>
            <a:ext cx="11064240" cy="960120"/>
          </a:xfrm>
          <a:prstGeom prst="round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877056"/>
            <a:ext cx="310896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7A81B"/>
                </a:solidFill>
                <a:latin typeface="Microsoft JhengHei"/>
                <a:ea typeface="Microsoft JhengHei"/>
              </a:rPr>
              <a:t>13.2% / 20.5%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877056"/>
            <a:ext cx="7315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ECF2FB"/>
                </a:solidFill>
                <a:latin typeface="Microsoft JhengHei"/>
                <a:ea typeface="Microsoft JhengHei"/>
              </a:rPr>
              <a:t>行為僅 13.2% 進『學習中』，20.5% 停在『其他』漫遊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28032"/>
            <a:ext cx="11064240" cy="960120"/>
          </a:xfrm>
          <a:prstGeom prst="round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937760"/>
            <a:ext cx="310896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DDC97"/>
                </a:solidFill>
                <a:latin typeface="Microsoft JhengHei"/>
                <a:ea typeface="Microsoft JhengHei"/>
              </a:rPr>
              <a:t>145 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4937760"/>
            <a:ext cx="7315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ECF2FB"/>
                </a:solidFill>
                <a:latin typeface="Microsoft JhengHei"/>
                <a:ea typeface="Microsoft JhengHei"/>
              </a:rPr>
              <a:t>課程分類長尾 —— 通用推薦難命中，需 AI 精準分眾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FB2CE"/>
                </a:solidFill>
                <a:latin typeface="Microsoft JhengHei"/>
                <a:ea typeface="Microsoft JhengHei"/>
              </a:rPr>
              <a:t>資料集為 116 位會員 / 159 段對話的取樣，僅用於定位問題，不反推全站指標。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PressPlay AI 智慧學習生態系 · 團隊 fish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7A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D0EE"/>
                </a:solidFill>
                <a:latin typeface="Microsoft JhengHei"/>
                <a:ea typeface="Microsoft JhengHei"/>
              </a:rPr>
              <a:t>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F2FB"/>
                </a:solidFill>
                <a:latin typeface="Microsoft JhengHei"/>
                <a:ea typeface="Microsoft JhengHei"/>
              </a:rPr>
              <a:t>產品戰略：三支柱，直接對應評分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8229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2B4574"/>
                </a:solidFill>
                <a:latin typeface="Microsoft JhengHei"/>
                <a:ea typeface="Microsoft JhengHei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66160" cy="3840480"/>
          </a:xfrm>
          <a:prstGeom prst="roundRect">
            <a:avLst/>
          </a:prstGeom>
          <a:solidFill>
            <a:srgbClr val="13294B"/>
          </a:solidFill>
          <a:ln w="12700">
            <a:solidFill>
              <a:srgbClr val="25D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566160" cy="109728"/>
          </a:xfrm>
          <a:prstGeom prst="rect">
            <a:avLst/>
          </a:prstGeom>
          <a:solidFill>
            <a:srgbClr val="25D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30175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25D0EE"/>
                </a:solidFill>
                <a:latin typeface="Microsoft JhengHei"/>
                <a:ea typeface="Microsoft JhengHei"/>
              </a:rPr>
              <a:t>① 主動進化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301752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ECF2FB"/>
                </a:solidFill>
                <a:latin typeface="Microsoft JhengHei"/>
                <a:ea typeface="Microsoft JhengHei"/>
              </a:rPr>
              <a:t>AI 從『等發問』變『主動接住斷點』：問完 / 答錯 / 看完，主動生成下一步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46320"/>
            <a:ext cx="3017520" cy="548640"/>
          </a:xfrm>
          <a:prstGeom prst="roundRect">
            <a:avLst/>
          </a:prstGeom>
          <a:solidFill>
            <a:srgbClr val="0E2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892040"/>
            <a:ext cx="30175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5D0EE"/>
                </a:solidFill>
                <a:latin typeface="Microsoft JhengHei"/>
                <a:ea typeface="Microsoft JhengHei"/>
              </a:rPr>
              <a:t>創新度 25% + 學習深度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737360"/>
            <a:ext cx="3566160" cy="3840480"/>
          </a:xfrm>
          <a:prstGeom prst="roundRect">
            <a:avLst/>
          </a:prstGeom>
          <a:solidFill>
            <a:srgbClr val="13294B"/>
          </a:solidFill>
          <a:ln w="12700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737360"/>
            <a:ext cx="3566160" cy="109728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2011680"/>
            <a:ext cx="30175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3DDC97"/>
                </a:solidFill>
                <a:latin typeface="Microsoft JhengHei"/>
                <a:ea typeface="Microsoft JhengHei"/>
              </a:rPr>
              <a:t>② 多維賦能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743200"/>
            <a:ext cx="301752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ECF2FB"/>
                </a:solidFill>
                <a:latin typeface="Microsoft JhengHei"/>
                <a:ea typeface="Microsoft JhengHei"/>
              </a:rPr>
              <a:t>同一份課程 → 挑戰題 / 45秒精華 / 電子書 / Podcast / 雷達診斷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4846320"/>
            <a:ext cx="3017520" cy="548640"/>
          </a:xfrm>
          <a:prstGeom prst="roundRect">
            <a:avLst/>
          </a:prstGeom>
          <a:solidFill>
            <a:srgbClr val="0E2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4892040"/>
            <a:ext cx="30175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3DDC97"/>
                </a:solidFill>
                <a:latin typeface="Microsoft JhengHei"/>
                <a:ea typeface="Microsoft JhengHei"/>
              </a:rPr>
              <a:t>創新度 25% + 資料洞察 20%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80" y="1737360"/>
            <a:ext cx="3566160" cy="3840480"/>
          </a:xfrm>
          <a:prstGeom prst="roundRect">
            <a:avLst/>
          </a:prstGeom>
          <a:solidFill>
            <a:srgbClr val="13294B"/>
          </a:solidFill>
          <a:ln w="12700">
            <a:solidFill>
              <a:srgbClr val="F7A8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737360"/>
            <a:ext cx="3566160" cy="109728"/>
          </a:xfrm>
          <a:prstGeom prst="rect">
            <a:avLst/>
          </a:prstGeom>
          <a:solidFill>
            <a:srgbClr val="F7A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2011680"/>
            <a:ext cx="30175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7A81B"/>
                </a:solidFill>
                <a:latin typeface="Microsoft JhengHei"/>
                <a:ea typeface="Microsoft JhengHei"/>
              </a:rPr>
              <a:t>③ 滲透擴散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743200"/>
            <a:ext cx="301752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ECF2FB"/>
                </a:solidFill>
                <a:latin typeface="Microsoft JhengHei"/>
                <a:ea typeface="Microsoft JhengHei"/>
              </a:rPr>
              <a:t>AI 限會員 → 45秒軟著陸 + 遊戲化回訪，讓會員更常用、非會員入會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4846320"/>
            <a:ext cx="3017520" cy="548640"/>
          </a:xfrm>
          <a:prstGeom prst="roundRect">
            <a:avLst/>
          </a:prstGeom>
          <a:solidFill>
            <a:srgbClr val="0E2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4892040"/>
            <a:ext cx="30175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7A81B"/>
                </a:solidFill>
                <a:latin typeface="Microsoft JhengHei"/>
                <a:ea typeface="Microsoft JhengHei"/>
              </a:rPr>
              <a:t>商業影響力 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PressPlay AI 智慧學習生態系 · 團隊 fish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7A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D0EE"/>
                </a:solidFill>
                <a:latin typeface="Microsoft JhengHei"/>
                <a:ea typeface="Microsoft JhengHei"/>
              </a:rPr>
              <a:t>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F2FB"/>
                </a:solidFill>
                <a:latin typeface="Microsoft JhengHei"/>
                <a:ea typeface="Microsoft JhengHei"/>
              </a:rPr>
              <a:t>戰略邏輯：努力補償 → 無縫擴散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8229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2B4574"/>
                </a:solidFill>
                <a:latin typeface="Microsoft JhengHei"/>
                <a:ea typeface="Microsoft JhengHei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77440"/>
            <a:ext cx="1965960" cy="1463040"/>
          </a:xfrm>
          <a:prstGeom prst="round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468880"/>
            <a:ext cx="1965960" cy="12801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ECF2FB"/>
                </a:solidFill>
                <a:latin typeface="Microsoft JhengHei"/>
                <a:ea typeface="Microsoft JhengHei"/>
              </a:rPr>
              <a:t>高頻打開
(主動診斷)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651760"/>
            <a:ext cx="41148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25D0EE"/>
                </a:solidFill>
                <a:latin typeface="Microsoft JhengHei"/>
                <a:ea typeface="Microsoft JhengHe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2377440"/>
            <a:ext cx="1965960" cy="1463040"/>
          </a:xfrm>
          <a:prstGeom prst="round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2468880"/>
            <a:ext cx="1965960" cy="12801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ECF2FB"/>
                </a:solidFill>
                <a:latin typeface="Microsoft JhengHei"/>
                <a:ea typeface="Microsoft JhengHei"/>
              </a:rPr>
              <a:t>答錯/看完
AI 主動介入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651760"/>
            <a:ext cx="41148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25D0EE"/>
                </a:solidFill>
                <a:latin typeface="Microsoft JhengHei"/>
                <a:ea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2377440"/>
            <a:ext cx="1965960" cy="1463040"/>
          </a:xfrm>
          <a:prstGeom prst="roundRect">
            <a:avLst/>
          </a:prstGeom>
          <a:solidFill>
            <a:srgbClr val="F7A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2468880"/>
            <a:ext cx="1965960" cy="12801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0A1730"/>
                </a:solidFill>
                <a:latin typeface="Microsoft JhengHei"/>
                <a:ea typeface="Microsoft JhengHei"/>
              </a:rPr>
              <a:t>45秒精華
軟著陸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2651760"/>
            <a:ext cx="41148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25D0EE"/>
                </a:solidFill>
                <a:latin typeface="Microsoft JhengHei"/>
                <a:ea typeface="Microsoft JhengHe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2377440"/>
            <a:ext cx="1965960" cy="1463040"/>
          </a:xfrm>
          <a:prstGeom prst="round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2468880"/>
            <a:ext cx="1965960" cy="12801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ECF2FB"/>
                </a:solidFill>
                <a:latin typeface="Microsoft JhengHei"/>
                <a:ea typeface="Microsoft JhengHei"/>
              </a:rPr>
              <a:t>認知懸念
引發渴望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2651760"/>
            <a:ext cx="41148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25D0EE"/>
                </a:solidFill>
                <a:latin typeface="Microsoft JhengHei"/>
                <a:ea typeface="Microsoft Jheng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0" y="2377440"/>
            <a:ext cx="1965960" cy="1463040"/>
          </a:xfrm>
          <a:prstGeom prst="roundRect">
            <a:avLst/>
          </a:prstGeom>
          <a:solidFill>
            <a:srgbClr val="F7A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0" y="2468880"/>
            <a:ext cx="1965960" cy="12801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0A1730"/>
                </a:solidFill>
                <a:latin typeface="Microsoft JhengHei"/>
                <a:ea typeface="Microsoft JhengHei"/>
              </a:rPr>
              <a:t>續看 / 入會
擴大滲透池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389120"/>
            <a:ext cx="11064240" cy="1371600"/>
          </a:xfrm>
          <a:prstGeom prst="roundRect">
            <a:avLst/>
          </a:prstGeom>
          <a:solidFill>
            <a:srgbClr val="0E2044"/>
          </a:solidFill>
          <a:ln w="12700">
            <a:solidFill>
              <a:srgbClr val="F7A8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57200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7A81B"/>
                </a:solidFill>
                <a:latin typeface="Microsoft JhengHei"/>
                <a:ea typeface="Microsoft JhengHei"/>
              </a:rPr>
              <a:t>關鍵校正：入會不是變現故事，而是擴散手段。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ECF2FB"/>
                </a:solidFill>
                <a:latin typeface="Microsoft JhengHei"/>
                <a:ea typeface="Microsoft JhengHei"/>
              </a:rPr>
              <a:t>AI 助教是會員專屬 → 每多一位會員 = 多一位 AI 可觸及用戶 = 滲透率分母池被實質放大。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PressPlay AI 智慧學習生態系 · 團隊 fish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7A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D0EE"/>
                </a:solidFill>
                <a:latin typeface="Microsoft JhengHei"/>
                <a:ea typeface="Microsoft JhengHei"/>
              </a:rPr>
              <a:t>模組 A（主線）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F2FB"/>
                </a:solidFill>
                <a:latin typeface="Microsoft JhengHei"/>
                <a:ea typeface="Microsoft JhengHei"/>
              </a:rPr>
              <a:t>AI 主動診斷與「下一步」引擎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8229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2B4574"/>
                </a:solidFill>
                <a:latin typeface="Microsoft JhengHei"/>
                <a:ea typeface="Microsoft JhengHei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1064240" cy="640080"/>
          </a:xfrm>
          <a:prstGeom prst="roundRect">
            <a:avLst/>
          </a:prstGeom>
          <a:solidFill>
            <a:srgbClr val="0E2044"/>
          </a:solidFill>
          <a:ln w="12700">
            <a:solidFill>
              <a:srgbClr val="25D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5D0EE"/>
                </a:solidFill>
                <a:latin typeface="Microsoft JhengHei"/>
                <a:ea typeface="Microsoft JhengHei"/>
              </a:rPr>
              <a:t>🎯 解決『問完就走』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0">
                <a:solidFill>
                  <a:srgbClr val="ECF2FB"/>
                </a:solidFill>
                <a:latin typeface="Microsoft JhengHei"/>
                <a:ea typeface="Microsoft JhengHei"/>
              </a:rPr>
              <a:t>•  鎖定問題：39.6% 對話問一次就走、僅 13.2% 進入學習中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ECF2FB"/>
                </a:solidFill>
                <a:latin typeface="Microsoft JhengHei"/>
                <a:ea typeface="Microsoft JhengHei"/>
              </a:rPr>
              <a:t>•  串接①提問 ②對話 ⑥軌跡，對話/挑戰結束時主動生成「知識缺口 + 下一步」卡片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ECF2FB"/>
                </a:solidFill>
                <a:latin typeface="Microsoft JhengHei"/>
                <a:ea typeface="Microsoft JhengHei"/>
              </a:rPr>
              <a:t>•  主動時機：答錯、看完一段、連續同主題、N 天未回訪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ECF2FB"/>
                </a:solidFill>
                <a:latin typeface="Microsoft JhengHei"/>
                <a:ea typeface="Microsoft JhengHei"/>
              </a:rPr>
              <a:t>•  命中官方要的『主動進化』——不再被動等待，接住每個流失斷點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PressPlay AI 智慧學習生態系 · 團隊 fish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7A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D0EE"/>
                </a:solidFill>
                <a:latin typeface="Microsoft JhengHei"/>
                <a:ea typeface="Microsoft JhengHei"/>
              </a:rPr>
              <a:t>模組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F2FB"/>
                </a:solidFill>
                <a:latin typeface="Microsoft JhengHei"/>
                <a:ea typeface="Microsoft JhengHei"/>
              </a:rPr>
              <a:t>動態懸念剪輯與「45 秒軟著陸」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8229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2B4574"/>
                </a:solidFill>
                <a:latin typeface="Microsoft JhengHei"/>
                <a:ea typeface="Microsoft JhengHei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1064240" cy="640080"/>
          </a:xfrm>
          <a:prstGeom prst="roundRect">
            <a:avLst/>
          </a:prstGeom>
          <a:solidFill>
            <a:srgbClr val="0E2044"/>
          </a:solidFill>
          <a:ln w="12700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3DDC97"/>
                </a:solidFill>
                <a:latin typeface="Microsoft JhengHei"/>
                <a:ea typeface="Microsoft JhengHei"/>
              </a:rPr>
              <a:t>🎯 降低學習摩擦 + 擴散滲透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0">
                <a:solidFill>
                  <a:srgbClr val="ECF2FB"/>
                </a:solidFill>
                <a:latin typeface="Microsoft JhengHei"/>
                <a:ea typeface="Microsoft JhengHei"/>
              </a:rPr>
              <a:t>•  答錯/卡關時 AI 主動介入，不丟鎖死的付費牆連結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ECF2FB"/>
                </a:solidFill>
                <a:latin typeface="Microsoft JhengHei"/>
                <a:ea typeface="Microsoft JhengHei"/>
              </a:rPr>
              <a:t>•  RAG 精準抓對應『45~60 秒免費精華錨點』作試吃墊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ECF2FB"/>
                </a:solidFill>
                <a:latin typeface="Microsoft JhengHei"/>
                <a:ea typeface="Microsoft JhengHei"/>
              </a:rPr>
              <a:t>•  最佳時刻懸念截斷（Cliffhanger），引發解鎖渴望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ECF2FB"/>
                </a:solidFill>
                <a:latin typeface="Microsoft JhengHei"/>
                <a:ea typeface="Microsoft JhengHei"/>
              </a:rPr>
              <a:t>•  會員一鍵續看；非會員看完引導入會 → 擴大 AI 觸及池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PressPlay AI 智慧學習生態系 · 團隊 fish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7A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D0EE"/>
                </a:solidFill>
                <a:latin typeface="Microsoft JhengHei"/>
                <a:ea typeface="Microsoft JhengHei"/>
              </a:rPr>
              <a:t>模組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F2FB"/>
                </a:solidFill>
                <a:latin typeface="Microsoft JhengHei"/>
                <a:ea typeface="Microsoft JhengHei"/>
              </a:rPr>
              <a:t>AI 記憶去重與熱門加乘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8229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2B4574"/>
                </a:solidFill>
                <a:latin typeface="Microsoft JhengHei"/>
                <a:ea typeface="Microsoft JhengHei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1064240" cy="640080"/>
          </a:xfrm>
          <a:prstGeom prst="roundRect">
            <a:avLst/>
          </a:prstGeom>
          <a:solidFill>
            <a:srgbClr val="0E2044"/>
          </a:solidFill>
          <a:ln w="12700">
            <a:solidFill>
              <a:srgbClr val="F7A8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7A81B"/>
                </a:solidFill>
                <a:latin typeface="Microsoft JhengHei"/>
                <a:ea typeface="Microsoft JhengHei"/>
              </a:rPr>
              <a:t>🎯 解決敷衍感 + 主動導流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0">
                <a:solidFill>
                  <a:srgbClr val="ECF2FB"/>
                </a:solidFill>
                <a:latin typeface="Microsoft JhengHei"/>
                <a:ea typeface="Microsoft JhengHei"/>
              </a:rPr>
              <a:t>•  呼叫④觀看紀錄，Bedrock 推薦前 Filter 掉已看 &gt;80% 的內容 ID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ECF2FB"/>
                </a:solidFill>
                <a:latin typeface="Microsoft JhengHei"/>
                <a:ea typeface="Microsoft JhengHei"/>
              </a:rPr>
              <a:t>•  徹底解決 Beta 版『每次推薦都一樣』的敷衍感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ECF2FB"/>
                </a:solidFill>
                <a:latin typeface="Microsoft JhengHei"/>
                <a:ea typeface="Microsoft JhengHei"/>
              </a:rPr>
              <a:t>•  結合③近7天觀看數，命中飆升課程給 1.5 倍學習獎勵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ECF2FB"/>
                </a:solidFill>
                <a:latin typeface="Microsoft JhengHei"/>
                <a:ea typeface="Microsoft JhengHei"/>
              </a:rPr>
              <a:t>•  用遊戲化主動把流量導向平台爆款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PressPlay AI 智慧學習生態系 · 團隊 fish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7A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D0EE"/>
                </a:solidFill>
                <a:latin typeface="Microsoft JhengHei"/>
                <a:ea typeface="Microsoft JhengHei"/>
              </a:rPr>
              <a:t>模組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F2FB"/>
                </a:solidFill>
                <a:latin typeface="Microsoft JhengHei"/>
                <a:ea typeface="Microsoft JhengHei"/>
              </a:rPr>
              <a:t>多模態學習與權限分級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8229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2B4574"/>
                </a:solidFill>
                <a:latin typeface="Microsoft JhengHei"/>
                <a:ea typeface="Microsoft JhengHei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1064240" cy="640080"/>
          </a:xfrm>
          <a:prstGeom prst="roundRect">
            <a:avLst/>
          </a:prstGeom>
          <a:solidFill>
            <a:srgbClr val="0E2044"/>
          </a:solidFill>
          <a:ln w="12700">
            <a:solidFill>
              <a:srgbClr val="25D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5D0EE"/>
                </a:solidFill>
                <a:latin typeface="Microsoft JhengHei"/>
                <a:ea typeface="Microsoft JhengHei"/>
              </a:rPr>
              <a:t>🎯 多元學習場景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0">
                <a:solidFill>
                  <a:srgbClr val="ECF2FB"/>
                </a:solidFill>
                <a:latin typeface="Microsoft JhengHei"/>
                <a:ea typeface="Microsoft JhengHei"/>
              </a:rPr>
              <a:t>•  短影音下方『展開看更多』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ECF2FB"/>
                </a:solidFill>
                <a:latin typeface="Microsoft JhengHei"/>
                <a:ea typeface="Microsoft JhengHei"/>
              </a:rPr>
              <a:t>•  免費用戶：片段文字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ECF2FB"/>
                </a:solidFill>
                <a:latin typeface="Microsoft JhengHei"/>
                <a:ea typeface="Microsoft JhengHei"/>
              </a:rPr>
              <a:t>•  付費會員：AI 轉換『全文本電子書』與『純聲 Podcast』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ECF2FB"/>
                </a:solidFill>
                <a:latin typeface="Microsoft JhengHei"/>
                <a:ea typeface="Microsoft JhengHei"/>
              </a:rPr>
              <a:t>•  同一套課程 → 多種學習場景，直接命中『多元化學習場景』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PressPlay AI 智慧學習生態系 · 團隊 fish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7A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D0EE"/>
                </a:solidFill>
                <a:latin typeface="Microsoft JhengHei"/>
                <a:ea typeface="Microsoft JhengHei"/>
              </a:rPr>
              <a:t>模組 A 延伸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F2FB"/>
                </a:solidFill>
                <a:latin typeface="Microsoft JhengHei"/>
                <a:ea typeface="Microsoft JhengHei"/>
              </a:rPr>
              <a:t>知識精靈養成 + 學習戰隊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8229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2B4574"/>
                </a:solidFill>
                <a:latin typeface="Microsoft JhengHei"/>
                <a:ea typeface="Microsoft JhengHe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1064240" cy="640080"/>
          </a:xfrm>
          <a:prstGeom prst="roundRect">
            <a:avLst/>
          </a:prstGeom>
          <a:solidFill>
            <a:srgbClr val="0E2044"/>
          </a:solidFill>
          <a:ln w="12700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3DDC97"/>
                </a:solidFill>
                <a:latin typeface="Microsoft JhengHei"/>
                <a:ea typeface="Microsoft JhengHei"/>
              </a:rPr>
              <a:t>🎯 把『玩完就走』變『每日回訪』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0">
                <a:solidFill>
                  <a:srgbClr val="ECF2FB"/>
                </a:solidFill>
                <a:latin typeface="Microsoft JhengHei"/>
                <a:ea typeface="Microsoft JhengHei"/>
              </a:rPr>
              <a:t>•  設計鐵律：遊戲化必須是『看課引擎』，不是平行娛樂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ECF2FB"/>
                </a:solidFill>
                <a:latin typeface="Microsoft JhengHei"/>
                <a:ea typeface="Microsoft JhengHei"/>
              </a:rPr>
              <a:t>•  經驗值只能靠『看完課程』或『用 AI 助教』取得（正面回答官方質疑）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ECF2FB"/>
                </a:solidFill>
                <a:latin typeface="Microsoft JhengHei"/>
                <a:ea typeface="Microsoft JhengHei"/>
              </a:rPr>
              <a:t>•  用⑤挑戰分類次數養成分眾寵物 PiPi（投資理財→西裝 PP）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ECF2FB"/>
                </a:solidFill>
                <a:latin typeface="Microsoft JhengHei"/>
                <a:ea typeface="Microsoft JhengHei"/>
              </a:rPr>
              <a:t>•  2–5 人戰隊，AI 教練派『一起看完 X 課』任務，社交壓力驅動回訪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PressPlay AI 智慧學習生態系 · 團隊 fish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7A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D0EE"/>
                </a:solidFill>
                <a:latin typeface="Microsoft JhengHei"/>
                <a:ea typeface="Microsoft JhengHei"/>
              </a:rPr>
              <a:t>DATA UTILIZATION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F2FB"/>
                </a:solidFill>
                <a:latin typeface="Microsoft JhengHei"/>
                <a:ea typeface="Microsoft JhengHei"/>
              </a:rPr>
              <a:t>如何運用官方 6 張資料表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8229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2B4574"/>
                </a:solidFill>
                <a:latin typeface="Microsoft JhengHei"/>
                <a:ea typeface="Microsoft JhengHei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3840480" cy="457200"/>
          </a:xfrm>
          <a:prstGeom prst="rect">
            <a:avLst/>
          </a:prstGeom>
          <a:solidFill>
            <a:srgbClr val="0E2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34840" y="1600200"/>
            <a:ext cx="4937760" cy="457200"/>
          </a:xfrm>
          <a:prstGeom prst="rect">
            <a:avLst/>
          </a:prstGeom>
          <a:solidFill>
            <a:srgbClr val="0E2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418320" y="1600200"/>
            <a:ext cx="2194560" cy="457200"/>
          </a:xfrm>
          <a:prstGeom prst="rect">
            <a:avLst/>
          </a:prstGeom>
          <a:solidFill>
            <a:srgbClr val="0E2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365760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5D0EE"/>
                </a:solidFill>
                <a:latin typeface="Microsoft JhengHei"/>
                <a:ea typeface="Microsoft JhengHei"/>
              </a:rPr>
              <a:t>資料表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1600200"/>
            <a:ext cx="475488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5D0EE"/>
                </a:solidFill>
                <a:latin typeface="Microsoft JhengHei"/>
                <a:ea typeface="Microsoft JhengHei"/>
              </a:rPr>
              <a:t>本案用途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600200"/>
            <a:ext cx="201168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5D0EE"/>
                </a:solidFill>
                <a:latin typeface="Microsoft JhengHei"/>
                <a:ea typeface="Microsoft JhengHei"/>
              </a:rPr>
              <a:t>模組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103120"/>
            <a:ext cx="38404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2103120"/>
            <a:ext cx="49377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1832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103120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CF2FB"/>
                </a:solidFill>
                <a:latin typeface="Microsoft JhengHei"/>
                <a:ea typeface="Microsoft JhengHei"/>
              </a:rPr>
              <a:t>① AI助教提問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103120"/>
            <a:ext cx="475488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FB2CE"/>
                </a:solidFill>
                <a:latin typeface="Microsoft JhengHei"/>
                <a:ea typeface="Microsoft JhengHei"/>
              </a:rPr>
              <a:t>提問主題、知識缺口聚類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2103120"/>
            <a:ext cx="201168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7A81B"/>
                </a:solidFill>
                <a:latin typeface="Microsoft JhengHei"/>
                <a:ea typeface="Microsoft JhengHei"/>
              </a:rPr>
              <a:t>模組A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15768"/>
            <a:ext cx="38404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4840" y="2715768"/>
            <a:ext cx="49377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18320" y="2715768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715768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CF2FB"/>
                </a:solidFill>
                <a:latin typeface="Microsoft JhengHei"/>
                <a:ea typeface="Microsoft JhengHei"/>
              </a:rPr>
              <a:t>② AI助教對話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15768"/>
            <a:ext cx="475488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FB2CE"/>
                </a:solidFill>
                <a:latin typeface="Microsoft JhengHei"/>
                <a:ea typeface="Microsoft JhengHei"/>
              </a:rPr>
              <a:t>找『對話結束就流失』斷點、生成下一步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2715768"/>
            <a:ext cx="201168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7A81B"/>
                </a:solidFill>
                <a:latin typeface="Microsoft JhengHei"/>
                <a:ea typeface="Microsoft JhengHei"/>
              </a:rPr>
              <a:t>模組A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328416"/>
            <a:ext cx="38404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34840" y="3328416"/>
            <a:ext cx="49377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18320" y="3328416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328416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CF2FB"/>
                </a:solidFill>
                <a:latin typeface="Microsoft JhengHei"/>
                <a:ea typeface="Microsoft JhengHei"/>
              </a:rPr>
              <a:t>③ 課程內容(近7/14/30天)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3328416"/>
            <a:ext cx="475488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FB2CE"/>
                </a:solidFill>
                <a:latin typeface="Microsoft JhengHei"/>
                <a:ea typeface="Microsoft JhengHei"/>
              </a:rPr>
              <a:t>熱門加乘、45秒錨點來源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3328416"/>
            <a:ext cx="201168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7A81B"/>
                </a:solidFill>
                <a:latin typeface="Microsoft JhengHei"/>
                <a:ea typeface="Microsoft JhengHei"/>
              </a:rPr>
              <a:t>模組B/C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941064"/>
            <a:ext cx="38404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34840" y="3941064"/>
            <a:ext cx="49377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18320" y="3941064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3941064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CF2FB"/>
                </a:solidFill>
                <a:latin typeface="Microsoft JhengHei"/>
                <a:ea typeface="Microsoft JhengHei"/>
              </a:rPr>
              <a:t>④ 會員觀看紀錄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3941064"/>
            <a:ext cx="475488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FB2CE"/>
                </a:solidFill>
                <a:latin typeface="Microsoft JhengHei"/>
                <a:ea typeface="Microsoft JhengHei"/>
              </a:rPr>
              <a:t>去識別化行為矩陣、推薦去重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0" y="3941064"/>
            <a:ext cx="201168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7A81B"/>
                </a:solidFill>
                <a:latin typeface="Microsoft JhengHei"/>
                <a:ea typeface="Microsoft JhengHei"/>
              </a:rPr>
              <a:t>模組C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553712"/>
            <a:ext cx="38404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434840" y="4553712"/>
            <a:ext cx="49377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418320" y="4553712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4553712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CF2FB"/>
                </a:solidFill>
                <a:latin typeface="Microsoft JhengHei"/>
                <a:ea typeface="Microsoft JhengHei"/>
              </a:rPr>
              <a:t>⑤ 知識挑戰(分類次數)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6280" y="4553712"/>
            <a:ext cx="475488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FB2CE"/>
                </a:solidFill>
                <a:latin typeface="Microsoft JhengHei"/>
                <a:ea typeface="Microsoft JhengHei"/>
              </a:rPr>
              <a:t>寵物經驗值、分眾能力值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09760" y="4553712"/>
            <a:ext cx="201168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7A81B"/>
                </a:solidFill>
                <a:latin typeface="Microsoft JhengHei"/>
                <a:ea typeface="Microsoft JhengHei"/>
              </a:rPr>
              <a:t>模組A延伸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166360"/>
            <a:ext cx="38404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434840" y="5166360"/>
            <a:ext cx="49377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418320" y="516636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5166360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CF2FB"/>
                </a:solidFill>
                <a:latin typeface="Microsoft JhengHei"/>
                <a:ea typeface="Microsoft JhengHei"/>
              </a:rPr>
              <a:t>⑥ 接觸AI前後軌跡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26280" y="5166360"/>
            <a:ext cx="475488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FB2CE"/>
                </a:solidFill>
                <a:latin typeface="Microsoft JhengHei"/>
                <a:ea typeface="Microsoft JhengHei"/>
              </a:rPr>
              <a:t>量化行為漏斗、定位漫遊/流失斷點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09760" y="5166360"/>
            <a:ext cx="201168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7A81B"/>
                </a:solidFill>
                <a:latin typeface="Microsoft JhengHei"/>
                <a:ea typeface="Microsoft JhengHei"/>
              </a:rPr>
              <a:t>模組A+成效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PressPlay AI 智慧學習生態系 · 團隊 fish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7A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D0EE"/>
                </a:solidFill>
                <a:latin typeface="Microsoft JhengHei"/>
                <a:ea typeface="Microsoft JhengHei"/>
              </a:rPr>
              <a:t>SUCCESS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F2FB"/>
                </a:solidFill>
                <a:latin typeface="Microsoft JhengHei"/>
                <a:ea typeface="Microsoft JhengHei"/>
              </a:rPr>
              <a:t>成效衡量（對齊商業影響力 30%）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8229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2B4574"/>
                </a:solidFill>
                <a:latin typeface="Microsoft JhengHei"/>
                <a:ea typeface="Microsoft JhengHe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94960" cy="2103120"/>
          </a:xfrm>
          <a:prstGeom prst="roundRect">
            <a:avLst/>
          </a:prstGeom>
          <a:solidFill>
            <a:srgbClr val="13294B"/>
          </a:solidFill>
          <a:ln w="12700">
            <a:solidFill>
              <a:srgbClr val="25D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484632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5D0EE"/>
                </a:solidFill>
                <a:latin typeface="Microsoft JhengHei"/>
                <a:ea typeface="Microsoft JhengHei"/>
              </a:rPr>
              <a:t>主指標（滲透率 + 學習深度）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ECF2FB"/>
                </a:solidFill>
                <a:latin typeface="Microsoft JhengHei"/>
                <a:ea typeface="Microsoft JhengHei"/>
              </a:rPr>
              <a:t>•  AI 助教滲透率 11.7% → 目標翻倍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CF2FB"/>
                </a:solidFill>
                <a:latin typeface="Microsoft JhengHei"/>
                <a:ea typeface="Microsoft JhengHei"/>
              </a:rPr>
              <a:t>•  AI 助教 DAU/MAU &lt;10% → 20%+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CF2FB"/>
                </a:solidFill>
                <a:latin typeface="Microsoft JhengHei"/>
                <a:ea typeface="Microsoft JhengHei"/>
              </a:rPr>
              <a:t>•  影片觀看次 / Session / 活躍天數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94960" cy="2103120"/>
          </a:xfrm>
          <a:prstGeom prst="roundRect">
            <a:avLst/>
          </a:prstGeom>
          <a:solidFill>
            <a:srgbClr val="13294B"/>
          </a:solidFill>
          <a:ln w="12700">
            <a:solidFill>
              <a:srgbClr val="F7A8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83080"/>
            <a:ext cx="484632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7A81B"/>
                </a:solidFill>
                <a:latin typeface="Microsoft JhengHei"/>
                <a:ea typeface="Microsoft JhengHei"/>
              </a:rPr>
              <a:t>A/B 驗證：遊戲化能否帶動看課？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8600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ECF2FB"/>
                </a:solidFill>
                <a:latin typeface="Microsoft JhengHei"/>
                <a:ea typeface="Microsoft JhengHei"/>
              </a:rPr>
              <a:t>•  A 組：只玩知識挑戰（死路）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ECF2FB"/>
                </a:solidFill>
                <a:latin typeface="Microsoft JhengHei"/>
                <a:ea typeface="Microsoft JhengHei"/>
              </a:rPr>
              <a:t>•  B 組：EXP 綁定看課的養成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ECF2FB"/>
                </a:solidFill>
                <a:latin typeface="Microsoft JhengHei"/>
                <a:ea typeface="Microsoft JhengHei"/>
              </a:rPr>
              <a:t>•  比挑戰後 7 天回訪看課率 / 活躍天數 / 滲透率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ECF2FB"/>
                </a:solidFill>
                <a:latin typeface="Microsoft JhengHei"/>
                <a:ea typeface="Microsoft JhengHei"/>
              </a:rPr>
              <a:t>•  成功判準：B 顯著 &gt;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11064240" cy="1920240"/>
          </a:xfrm>
          <a:prstGeom prst="roundRect">
            <a:avLst/>
          </a:prstGeom>
          <a:solidFill>
            <a:srgbClr val="0E2044"/>
          </a:solidFill>
          <a:ln w="12700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69080"/>
            <a:ext cx="105156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DDC97"/>
                </a:solidFill>
                <a:latin typeface="Microsoft JhengHei"/>
                <a:ea typeface="Microsoft JhengHei"/>
              </a:rPr>
              <a:t>🔬 資料誠信聲明（技術評審加分項）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526280"/>
            <a:ext cx="1051560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ECF2FB"/>
                </a:solidFill>
                <a:latin typeface="Microsoft JhengHei"/>
                <a:ea typeface="Microsoft JhengHei"/>
              </a:rPr>
              <a:t>曾觀察『有用 AI 者看課 1.83x』，但檢驗後中位數僅 1.10x、相關係數 r≈0.04，屬離群值假象。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9FB2CE"/>
                </a:solidFill>
                <a:latin typeface="Microsoft JhengHei"/>
                <a:ea typeface="Microsoft JhengHei"/>
              </a:rPr>
              <a:t>→ 我們不主張此因果，改由 A/B 嚴謹驗證。寧可少講一個漂亮但脆弱的數字，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9FB2CE"/>
                </a:solidFill>
                <a:latin typeface="Microsoft JhengHei"/>
                <a:ea typeface="Microsoft JhengHei"/>
              </a:rPr>
              <a:t>   也不讓計畫在評審 Q&amp;A 被一擊即破。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PressPlay AI 智慧學習生態系 · 團隊 fish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7A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D0EE"/>
                </a:solidFill>
                <a:latin typeface="Microsoft JhengHei"/>
                <a:ea typeface="Microsoft JhengHe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F2FB"/>
                </a:solidFill>
                <a:latin typeface="Microsoft JhengHei"/>
                <a:ea typeface="Microsoft JhengHei"/>
              </a:rPr>
              <a:t>AWS 技術架構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8229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2B4574"/>
                </a:solidFill>
                <a:latin typeface="Microsoft JhengHei"/>
                <a:ea typeface="Microsoft JhengHe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064240" cy="822960"/>
          </a:xfrm>
          <a:prstGeom prst="round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28016" cy="822960"/>
          </a:xfrm>
          <a:prstGeom prst="rect">
            <a:avLst/>
          </a:prstGeom>
          <a:solidFill>
            <a:srgbClr val="25D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329184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5D0EE"/>
                </a:solidFill>
                <a:latin typeface="Microsoft JhengHei"/>
                <a:ea typeface="Microsoft JhengHei"/>
              </a:rPr>
              <a:t>Amazon Bedrock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691640"/>
            <a:ext cx="713232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CF2FB"/>
                </a:solidFill>
                <a:latin typeface="Microsoft JhengHei"/>
                <a:ea typeface="Microsoft JhengHei"/>
              </a:rPr>
              <a:t>RAG 撈 45 秒精華錨點 + 主動生成『知識缺口診斷 / 下一步路徑』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06040"/>
            <a:ext cx="11064240" cy="822960"/>
          </a:xfrm>
          <a:prstGeom prst="round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606040"/>
            <a:ext cx="128016" cy="82296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06040"/>
            <a:ext cx="329184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DDC97"/>
                </a:solidFill>
                <a:latin typeface="Microsoft JhengHei"/>
                <a:ea typeface="Microsoft JhengHei"/>
              </a:rPr>
              <a:t>Amazon DynamoDB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606040"/>
            <a:ext cx="713232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CF2FB"/>
                </a:solidFill>
                <a:latin typeface="Microsoft JhengHei"/>
                <a:ea typeface="Microsoft JhengHei"/>
              </a:rPr>
              <a:t>去識別化 Session Token 儲存行為足跡矩陣，支撐長期記憶與去重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0440"/>
            <a:ext cx="11064240" cy="822960"/>
          </a:xfrm>
          <a:prstGeom prst="round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520440"/>
            <a:ext cx="128016" cy="822960"/>
          </a:xfrm>
          <a:prstGeom prst="rect">
            <a:avLst/>
          </a:prstGeom>
          <a:solidFill>
            <a:srgbClr val="F7A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20440"/>
            <a:ext cx="329184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7A81B"/>
                </a:solidFill>
                <a:latin typeface="Microsoft JhengHei"/>
                <a:ea typeface="Microsoft JhengHei"/>
              </a:rPr>
              <a:t>向量檢索排除機制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520440"/>
            <a:ext cx="713232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CF2FB"/>
                </a:solidFill>
                <a:latin typeface="Microsoft JhengHei"/>
                <a:ea typeface="Microsoft JhengHei"/>
              </a:rPr>
              <a:t>RAG 撈最匹配 3 堂，排除已看 &gt;80% 的內容 ID（Filter Expression）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434840"/>
            <a:ext cx="11064240" cy="822960"/>
          </a:xfrm>
          <a:prstGeom prst="round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434840"/>
            <a:ext cx="128016" cy="822960"/>
          </a:xfrm>
          <a:prstGeom prst="rect">
            <a:avLst/>
          </a:prstGeom>
          <a:solidFill>
            <a:srgbClr val="25D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434840"/>
            <a:ext cx="329184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5D0EE"/>
                </a:solidFill>
                <a:latin typeface="Microsoft JhengHei"/>
                <a:ea typeface="Microsoft JhengHei"/>
              </a:rPr>
              <a:t>Amazon Titan (IP Indemnity)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434840"/>
            <a:ext cx="713232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CF2FB"/>
                </a:solidFill>
                <a:latin typeface="Microsoft JhengHei"/>
                <a:ea typeface="Microsoft JhengHei"/>
              </a:rPr>
              <a:t>具智財賠償保證的繪圖模型 + 參數化紙娃娃系統，寵物生成 100% 商業安全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349240"/>
            <a:ext cx="11064240" cy="822960"/>
          </a:xfrm>
          <a:prstGeom prst="round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349240"/>
            <a:ext cx="128016" cy="82296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349240"/>
            <a:ext cx="329184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DDC97"/>
                </a:solidFill>
                <a:latin typeface="Microsoft JhengHei"/>
                <a:ea typeface="Microsoft JhengHei"/>
              </a:rPr>
              <a:t>隱私合規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5349240"/>
            <a:ext cx="713232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CF2FB"/>
                </a:solidFill>
                <a:latin typeface="Microsoft JhengHei"/>
                <a:ea typeface="Microsoft JhengHei"/>
              </a:rPr>
              <a:t>去識別化 + Opt-in 授權，符合 GDPR / CCPA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PressPlay AI 智慧學習生態系 · 團隊 fish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7A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D0EE"/>
                </a:solidFill>
                <a:latin typeface="Microsoft JhengHei"/>
                <a:ea typeface="Microsoft JhengHe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F2FB"/>
                </a:solidFill>
                <a:latin typeface="Microsoft JhengHei"/>
                <a:ea typeface="Microsoft JhengHei"/>
              </a:rPr>
              <a:t>可互動 Web/App 介面（聚焦完成度 15%）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8229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2B4574"/>
                </a:solidFill>
                <a:latin typeface="Microsoft JhengHei"/>
                <a:ea typeface="Microsoft JhengHe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5D0EE"/>
                </a:solidFill>
                <a:latin typeface="Microsoft JhengHei"/>
                <a:ea typeface="Microsoft JhengHei"/>
              </a:rPr>
              <a:t>手機版 Web 原型（React + Tailwind），一條龍走完五大模組。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2651760" cy="777240"/>
          </a:xfrm>
          <a:prstGeom prst="roundRect">
            <a:avLst/>
          </a:prstGeom>
          <a:solidFill>
            <a:srgbClr val="13294B"/>
          </a:solidFill>
          <a:ln w="12700">
            <a:solidFill>
              <a:srgbClr val="25D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265176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ECF2FB"/>
                </a:solidFill>
                <a:latin typeface="Microsoft JhengHei"/>
                <a:ea typeface="Microsoft JhengHei"/>
              </a:rPr>
              <a:t>1. 知識PK擂台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2468880"/>
            <a:ext cx="2651760" cy="777240"/>
          </a:xfrm>
          <a:prstGeom prst="roundRect">
            <a:avLst/>
          </a:prstGeom>
          <a:solidFill>
            <a:srgbClr val="13294B"/>
          </a:solidFill>
          <a:ln w="12700">
            <a:solidFill>
              <a:srgbClr val="25D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2468880"/>
            <a:ext cx="265176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ECF2FB"/>
                </a:solidFill>
                <a:latin typeface="Microsoft JhengHei"/>
                <a:ea typeface="Microsoft JhengHei"/>
              </a:rPr>
              <a:t>2. 挑戰答題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468880"/>
            <a:ext cx="2651760" cy="777240"/>
          </a:xfrm>
          <a:prstGeom prst="roundRect">
            <a:avLst/>
          </a:prstGeom>
          <a:solidFill>
            <a:srgbClr val="13294B"/>
          </a:solidFill>
          <a:ln w="12700">
            <a:solidFill>
              <a:srgbClr val="25D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2468880"/>
            <a:ext cx="265176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ECF2FB"/>
                </a:solidFill>
                <a:latin typeface="Microsoft JhengHei"/>
                <a:ea typeface="Microsoft JhengHei"/>
              </a:rPr>
              <a:t>3. 45秒軟著陸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2468880"/>
            <a:ext cx="2651760" cy="777240"/>
          </a:xfrm>
          <a:prstGeom prst="roundRect">
            <a:avLst/>
          </a:prstGeom>
          <a:solidFill>
            <a:srgbClr val="13294B"/>
          </a:solidFill>
          <a:ln w="12700">
            <a:solidFill>
              <a:srgbClr val="25D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2468880"/>
            <a:ext cx="265176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ECF2FB"/>
                </a:solidFill>
                <a:latin typeface="Microsoft JhengHei"/>
                <a:ea typeface="Microsoft JhengHei"/>
              </a:rPr>
              <a:t>4. AI主動診斷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429000"/>
            <a:ext cx="2651760" cy="777240"/>
          </a:xfrm>
          <a:prstGeom prst="roundRect">
            <a:avLst/>
          </a:prstGeom>
          <a:solidFill>
            <a:srgbClr val="13294B"/>
          </a:solidFill>
          <a:ln w="12700">
            <a:solidFill>
              <a:srgbClr val="25D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429000"/>
            <a:ext cx="265176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ECF2FB"/>
                </a:solidFill>
                <a:latin typeface="Microsoft JhengHei"/>
                <a:ea typeface="Microsoft JhengHei"/>
              </a:rPr>
              <a:t>5. 推薦去重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3429000"/>
            <a:ext cx="2651760" cy="777240"/>
          </a:xfrm>
          <a:prstGeom prst="roundRect">
            <a:avLst/>
          </a:prstGeom>
          <a:solidFill>
            <a:srgbClr val="13294B"/>
          </a:solidFill>
          <a:ln w="12700">
            <a:solidFill>
              <a:srgbClr val="25D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7560" y="3429000"/>
            <a:ext cx="265176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ECF2FB"/>
                </a:solidFill>
                <a:latin typeface="Microsoft JhengHei"/>
                <a:ea typeface="Microsoft JhengHei"/>
              </a:rPr>
              <a:t>6. 精靈養成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3429000"/>
            <a:ext cx="2651760" cy="777240"/>
          </a:xfrm>
          <a:prstGeom prst="roundRect">
            <a:avLst/>
          </a:prstGeom>
          <a:solidFill>
            <a:srgbClr val="13294B"/>
          </a:solidFill>
          <a:ln w="12700">
            <a:solidFill>
              <a:srgbClr val="25D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3429000"/>
            <a:ext cx="265176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ECF2FB"/>
                </a:solidFill>
                <a:latin typeface="Microsoft JhengHei"/>
                <a:ea typeface="Microsoft JhengHei"/>
              </a:rPr>
              <a:t>7. 多模態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15400" y="3429000"/>
            <a:ext cx="2651760" cy="777240"/>
          </a:xfrm>
          <a:prstGeom prst="roundRect">
            <a:avLst/>
          </a:prstGeom>
          <a:solidFill>
            <a:srgbClr val="13294B"/>
          </a:solidFill>
          <a:ln w="12700">
            <a:solidFill>
              <a:srgbClr val="25D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5400" y="3429000"/>
            <a:ext cx="265176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ECF2FB"/>
                </a:solidFill>
                <a:latin typeface="Microsoft JhengHei"/>
                <a:ea typeface="Microsoft JhengHei"/>
              </a:rPr>
              <a:t>8. 成效儀表板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754880"/>
            <a:ext cx="11064240" cy="1097280"/>
          </a:xfrm>
          <a:prstGeom prst="roundRect">
            <a:avLst/>
          </a:prstGeom>
          <a:solidFill>
            <a:srgbClr val="0E2044"/>
          </a:solidFill>
          <a:ln w="12700">
            <a:solidFill>
              <a:srgbClr val="F7A8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89204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CF2FB"/>
                </a:solidFill>
                <a:latin typeface="Microsoft JhengHei"/>
                <a:ea typeface="Microsoft JhengHei"/>
              </a:rPr>
              <a:t>建議動線：擂台 → 答題(故意答錯) → 45秒軟著陸 → AI 主動診斷 → 推薦去重 → 精靈養成 → 多模態 → 成效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25D0EE"/>
                </a:solidFill>
                <a:latin typeface="Microsoft JhengHei"/>
                <a:ea typeface="Microsoft JhengHei"/>
              </a:rPr>
              <a:t>GitHub： github.com/a96020183/ppa-ai-hackathon-fish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PressPlay AI 智慧學習生態系 · 團隊 fish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7A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D0EE"/>
                </a:solidFill>
                <a:latin typeface="Microsoft JhengHei"/>
                <a:ea typeface="Microsoft JhengHei"/>
              </a:rPr>
              <a:t>SELF-ASSESSMENT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F2FB"/>
                </a:solidFill>
                <a:latin typeface="Microsoft JhengHei"/>
                <a:ea typeface="Microsoft JhengHei"/>
              </a:rPr>
              <a:t>我們如何命中每一項評分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8229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2B4574"/>
                </a:solidFill>
                <a:latin typeface="Microsoft JhengHei"/>
                <a:ea typeface="Microsoft JhengHe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064240" cy="841248"/>
          </a:xfrm>
          <a:prstGeom prst="round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237744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ECF2FB"/>
                </a:solidFill>
                <a:latin typeface="Microsoft JhengHei"/>
                <a:ea typeface="Microsoft JhengHei"/>
              </a:rPr>
              <a:t>商業影響力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691640"/>
            <a:ext cx="128016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7A81B"/>
                </a:solidFill>
                <a:latin typeface="Microsoft JhengHei"/>
                <a:ea typeface="Microsoft JhengHe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685800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FB2CE"/>
                </a:solidFill>
                <a:latin typeface="Microsoft JhengHei"/>
                <a:ea typeface="Microsoft JhengHei"/>
              </a:rPr>
              <a:t>主指標用滲透率/DAU/學習深度；會員擴散＝擴大 AI 觸及池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06040"/>
            <a:ext cx="11064240" cy="841248"/>
          </a:xfrm>
          <a:prstGeom prst="round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606040"/>
            <a:ext cx="237744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ECF2FB"/>
                </a:solidFill>
                <a:latin typeface="Microsoft JhengHei"/>
                <a:ea typeface="Microsoft JhengHei"/>
              </a:rPr>
              <a:t>創新度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606040"/>
            <a:ext cx="128016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25D0EE"/>
                </a:solidFill>
                <a:latin typeface="Microsoft JhengHei"/>
                <a:ea typeface="Microsoft JhengHei"/>
              </a:rPr>
              <a:t>25%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606040"/>
            <a:ext cx="685800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FB2CE"/>
                </a:solidFill>
                <a:latin typeface="Microsoft JhengHei"/>
                <a:ea typeface="Microsoft JhengHei"/>
              </a:rPr>
              <a:t>AI 被動→主動診斷、跨場景多模態，跳脫右側對話框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0440"/>
            <a:ext cx="11064240" cy="841248"/>
          </a:xfrm>
          <a:prstGeom prst="round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20440"/>
            <a:ext cx="237744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ECF2FB"/>
                </a:solidFill>
                <a:latin typeface="Microsoft JhengHei"/>
                <a:ea typeface="Microsoft JhengHei"/>
              </a:rPr>
              <a:t>資料洞察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520440"/>
            <a:ext cx="128016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3DDC97"/>
                </a:solidFill>
                <a:latin typeface="Microsoft JhengHei"/>
                <a:ea typeface="Microsoft JhengHei"/>
              </a:rPr>
              <a:t>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520440"/>
            <a:ext cx="685800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FB2CE"/>
                </a:solidFill>
                <a:latin typeface="Microsoft JhengHei"/>
                <a:ea typeface="Microsoft JhengHei"/>
              </a:rPr>
              <a:t>用①②⑥對話/軌跡資料證明斷點，資料驅動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434840"/>
            <a:ext cx="11064240" cy="841248"/>
          </a:xfrm>
          <a:prstGeom prst="round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434840"/>
            <a:ext cx="237744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ECF2FB"/>
                </a:solidFill>
                <a:latin typeface="Microsoft JhengHei"/>
                <a:ea typeface="Microsoft JhengHei"/>
              </a:rPr>
              <a:t>完成度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4434840"/>
            <a:ext cx="128016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25D0EE"/>
                </a:solidFill>
                <a:latin typeface="Microsoft JhengHei"/>
                <a:ea typeface="Microsoft JhengHei"/>
              </a:rPr>
              <a:t>15%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434840"/>
            <a:ext cx="685800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FB2CE"/>
                </a:solidFill>
                <a:latin typeface="Microsoft JhengHei"/>
                <a:ea typeface="Microsoft JhengHei"/>
              </a:rPr>
              <a:t>Demo 聚焦一條龍主線，示意其餘模組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349240"/>
            <a:ext cx="11064240" cy="841248"/>
          </a:xfrm>
          <a:prstGeom prst="round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49240"/>
            <a:ext cx="237744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ECF2FB"/>
                </a:solidFill>
                <a:latin typeface="Microsoft JhengHei"/>
                <a:ea typeface="Microsoft JhengHei"/>
              </a:rPr>
              <a:t>技術性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5349240"/>
            <a:ext cx="128016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7A81B"/>
                </a:solidFill>
                <a:latin typeface="Microsoft JhengHei"/>
                <a:ea typeface="Microsoft JhengHei"/>
              </a:rPr>
              <a:t>10%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349240"/>
            <a:ext cx="685800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FB2CE"/>
                </a:solidFill>
                <a:latin typeface="Microsoft JhengHei"/>
                <a:ea typeface="Microsoft JhengHei"/>
              </a:rPr>
              <a:t>Bedrock RAG + 主動生成 + DynamoDB 去重 + Titan 合規生圖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PressPlay AI 智慧學習生態系 · 團隊 fish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17520"/>
            <a:ext cx="12191695" cy="91440"/>
          </a:xfrm>
          <a:prstGeom prst="rect">
            <a:avLst/>
          </a:prstGeom>
          <a:solidFill>
            <a:srgbClr val="F7A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10642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ECF2FB"/>
                </a:solidFill>
                <a:latin typeface="Microsoft JhengHei"/>
                <a:ea typeface="Microsoft JhengHei"/>
              </a:rPr>
              <a:t>讓 AI 更有用 → 驅動更多人看課 → 提升滲透與學習深度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383280"/>
            <a:ext cx="1106424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5D0EE"/>
                </a:solidFill>
                <a:latin typeface="Microsoft JhengHei"/>
                <a:ea typeface="Microsoft JhengHei"/>
              </a:rPr>
              <a:t>團隊 fish · PressPlay AI 智慧學習生態系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0"/>
            <a:ext cx="1106424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7A81B"/>
                </a:solidFill>
                <a:latin typeface="Microsoft JhengHei"/>
                <a:ea typeface="Microsoft JhengHei"/>
              </a:rPr>
              <a:t>Thank you  ·  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PressPlay AI 智慧學習生態系 · 團隊 fish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F93"/>
                </a:solidFill>
                <a:latin typeface="Microsoft JhengHei"/>
                <a:ea typeface="Microsoft JhengHe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