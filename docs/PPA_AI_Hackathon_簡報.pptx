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1005840" cy="1005840"/>
          </a:xfrm>
          <a:prstGeom prst="round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32688"/>
            <a:ext cx="100584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0C1D3D"/>
                </a:solidFill>
                <a:latin typeface="Microsoft JhengHei"/>
              </a:rPr>
              <a:t>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96012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AEBAD0"/>
                </a:solidFill>
                <a:latin typeface="Microsoft JhengHei"/>
              </a:rPr>
              <a:t>PressPlay AI 智慧學習生態系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從對話到多元應用：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7A81B"/>
                </a:solidFill>
                <a:latin typeface="Microsoft JhengHei"/>
              </a:rPr>
              <a:t>主動進化 × 多維賦能的 AI 智慧對話助教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5D0EE"/>
                </a:solidFill>
                <a:latin typeface="Microsoft JhengHei"/>
              </a:rPr>
              <a:t>團隊 fish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AD0"/>
                </a:solidFill>
                <a:latin typeface="Microsoft JhengHei"/>
              </a:rPr>
              <a:t>AWS Summit Taipei 2026 × PressPlay Academy — 百工百業瘋 AI Hackathon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線上 Demo：https://main.d17rjg8zasvsbn.amplifyapp.com</a:t>
            </a:r>
          </a:p>
        </p:txBody>
      </p:sp>
      <p:pic>
        <p:nvPicPr>
          <p:cNvPr id="10" name="Picture 9" descr="pipi-s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29768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命題 /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官方要我們回答的一句話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「如何將 AI 的技術與服務，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7A81B"/>
                </a:solidFill>
                <a:latin typeface="Microsoft JhengHei"/>
              </a:rPr>
              <a:t>擴大至更多元化的學習場景中？」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66160"/>
            <a:ext cx="5212080" cy="246888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30752"/>
            <a:ext cx="480974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張力所在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助教已被官方數據證實「超級有效」：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影片觀看次 +700%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Session 數 +84%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活躍天數 +52%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但——用的人正在流失。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566160"/>
            <a:ext cx="5212080" cy="246888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3730752"/>
            <a:ext cx="4809744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我們的解讀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不要再把 AI 當「等你發問的客服」。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要讓它主動出擊、多維賦能、跨場景，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把已驗證有效的體驗，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擴散給更多人、更多學習時刻。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核心指標：滲透率 + 學習深度。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痛點 01 /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AI 助教「效果極強」但「觸及極弱」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383280" cy="201168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298094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用了的人（效果強）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影片觀看次 +700%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Session +84%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活躍天數 +52%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效果驚人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383280" cy="201168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93392"/>
            <a:ext cx="298094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26D6D"/>
                </a:solidFill>
                <a:latin typeface="Microsoft JhengHei"/>
              </a:rPr>
              <a:t>但沒人用（觸及弱）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DAU/MAU 29% → &lt;10%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助教滲透率僅 11.7%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高效工具被埋沒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566160" cy="201168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7" y="1993392"/>
            <a:ext cx="316382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對照：遊戲化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知識挑戰滲透率 42%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DAU/MAU 27%（人氣高）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但流量停在挑戰頁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沒回流到 AI 與課程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10881360" cy="1737360"/>
          </a:xfrm>
          <a:prstGeom prst="round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97680"/>
            <a:ext cx="10332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7A81B"/>
                </a:solidFill>
                <a:latin typeface="Microsoft JhengHei"/>
              </a:rPr>
              <a:t>一句話：</a:t>
            </a:r>
            <a:r>
              <a:rPr sz="1800" b="1">
                <a:solidFill>
                  <a:srgbClr val="FFFFFF"/>
                </a:solidFill>
                <a:latin typeface="Microsoft JhengHei"/>
              </a:rPr>
              <a:t>已被驗證超級有效的 AI 助教，正在被埋沒。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AEBAD0"/>
                </a:solidFill>
                <a:latin typeface="Microsoft JhengHei"/>
              </a:rPr>
              <a:t>遊戲化很紅、但帶不動看課；AI 很有效、但沒人用。我們要把兩者接起來。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資料洞察 / Data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我們實跑官方 Dataset 挖出的「斷點鐵證」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83080"/>
          <a:ext cx="1088136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3200400"/>
                <a:gridCol w="43891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發現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數據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代表什麼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對話「問一次就走」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39.6%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AI 沒把對話延續成學習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平均每段對話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6.68 則（約 3.4 來回）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互動極淺、很快冷掉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行為進入「學習中」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僅 13.2%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流量沒被導進課程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停在「其他」漫遊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20.5%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站內迷路、購買轉換僅 2.5%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知識挑戰最熱門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烘焙料理 22.5%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非投資理財，興趣分散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課程分類數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145 類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長尾極長，需 AI 精準分眾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EBAD0"/>
                </a:solidFill>
                <a:latin typeface="Microsoft JhengHei"/>
              </a:rPr>
              <a:t>資料來源：官方 6 張表（116 會員／159 段對話取樣）。僅用於定位「問題／斷點」，不反推全站指標。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關鍵 / The Hard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官方拋出的核心質疑，我們正面接住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/>
          </a:prstGeom>
          <a:solidFill>
            <a:srgbClr val="15294D"/>
          </a:solidFill>
          <a:ln w="19050">
            <a:solidFill>
              <a:srgbClr val="F26D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26D6D"/>
                </a:solidFill>
                <a:latin typeface="Microsoft JhengHei"/>
              </a:rPr>
              <a:t>官方原話：</a:t>
            </a:r>
            <a:r>
              <a:rPr sz="1600" b="1">
                <a:solidFill>
                  <a:srgbClr val="FFFFFF"/>
                </a:solidFill>
                <a:latin typeface="Microsoft JhengHei"/>
              </a:rPr>
              <a:t>「遊戲化滲透率雖高（42%），但無法確認遊戲化真的能讓用戶看更多影片。」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7A81B"/>
                </a:solidFill>
                <a:latin typeface="Microsoft JhengHei"/>
              </a:rPr>
              <a:t>→ 我們把它變成本案的中心假設（Central Hypothesis）：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881360" cy="182880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279392"/>
            <a:ext cx="10479024" cy="1499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不迴避，用機制 + 資料證明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我們不只做遊戲化，更要證明「遊戲化 → 帶動看課 / 拉高 AI 滲透率」的因果。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做法：把每一分經驗值都「焊死」在看課與用 AI 上（見後頁機制），再用 A/B 嚴格驗證。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證不了 → 它只是又一個玩完就走的死路；證得了 → 它就是滲透率與學習深度的引擎。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戰略 /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一句話主張 × 三支柱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881360" cy="1234440"/>
          </a:xfrm>
          <a:prstGeom prst="round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103327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讓 AI 助教從「少數會員的右側被動客服」，進化為主動出擊、多維賦能、跨場景的學習引擎。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3429000" cy="26517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456432"/>
            <a:ext cx="3026664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① 主動進化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從「等發問」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變「主動接住斷點」：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問完 / 答錯 / 看完，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主動生成下一步。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命中：創新度 25%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291840"/>
            <a:ext cx="3429000" cy="26517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3456432"/>
            <a:ext cx="3026664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② 多維賦能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同一份課程，AI 轉成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挑戰題 / 45秒精華 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電子書 / Podcast 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雷達診斷。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命中：創新度+資料洞察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91840"/>
            <a:ext cx="3474720" cy="26517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3456432"/>
            <a:ext cx="3072384" cy="2322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③ 滲透擴散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45秒軟著陸 + 遊戲化回訪：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讓會員更常用、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把非會員轉成會員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= 擴大 AI 觸及池。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命中：商業影響力 30%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1 / 學習場景與方式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四個真實的學習場景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490118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場景一：答錯的瞬間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知識挑戰答錯 → AI 主動攔截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給 45 秒免費精華補強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不撞付費牆、把挫折變學習契機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9496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993392"/>
            <a:ext cx="499262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場景二：對話快冷掉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偵測對話結束 → 主動生成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「知識缺口雷達 + 下一步路徑」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把一次性問答變持續學習計畫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530352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142231"/>
            <a:ext cx="490118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場景三：多模態自由切換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同一課程 → 影音 / 電子書 /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純聲 Podcast 三種形態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通勤、碎片、深度學習都涵蓋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77639"/>
            <a:ext cx="539496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4142231"/>
            <a:ext cx="499262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場景四：遊戲化驅動回訪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養成 PiPi、戰隊每日任務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經驗值只能靠看課 / 用 AI 取得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娛樂變成看課的引擎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2 / AI 應用亮點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亮點一：AI 從被動 → 主動（Before / After）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676656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33832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Before（現行）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After（本案）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等用戶發問才回答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偵測斷點，主動接住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答完就結束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主動生成「下一步」路徑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每次當新對話處理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累積記憶，跨次診斷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不認識你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FFFFF"/>
                          </a:solidFill>
                          <a:latin typeface="Microsoft JhengHei"/>
                        </a:rPr>
                        <a:t>雷達圖追蹤你的知識版圖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828800"/>
            <a:ext cx="3840480" cy="338328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1993392"/>
            <a:ext cx="3438144" cy="3054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主動觸發時機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答錯時 → 45 秒精華補強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對話冷掉 → 雷達 + 下一步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看完課 → 推挑戰 + EXP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N 天未回訪 → 戰隊提醒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• 重複問同主題 → 排學習計畫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EBAD0"/>
                </a:solidFill>
                <a:latin typeface="Microsoft JhengHei"/>
              </a:rPr>
              <a:t>這就是官方要的「主動進化」——AI 不再被動等待，而是接住每一個原本會流失的斷點。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2 / AI 應用亮點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亮點二～四：去重、加乘、正面回應質疑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329184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3026664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記憶去重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Bedrock RAG 撈最匹配 3 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DynamoDB 過濾已看 &gt;80%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的內容 ID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終結 Beta 版「每次推薦都一樣」的敷衍感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329184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93392"/>
            <a:ext cx="3026664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熱門加乘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命中近 7 天飆升課程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學習獎勵 ×1.5 EXP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用遊戲化主動把流量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推向平台爆款課程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329184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93392"/>
            <a:ext cx="3072384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正面回應官方質疑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官方質疑遊戲化帶不動看課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我們的解法：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經驗值 100% 綁定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「看課 / 用 AI」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遊戲化＝看課引擎，非平行娛樂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交付重點 / Flow ↔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完整使用流程 ↔ 預期成效（不只展示 AI 功能）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20140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3383280"/>
                <a:gridCol w="3291840"/>
                <a:gridCol w="4069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C1D3D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C1D3D"/>
                          </a:solidFill>
                          <a:latin typeface="Microsoft JhengHei"/>
                        </a:rPr>
                        <a:t>使用流程（Demo 畫面）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C1D3D"/>
                          </a:solidFill>
                          <a:latin typeface="Microsoft JhengHei"/>
                        </a:rPr>
                        <a:t>用戶做什麼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C1D3D"/>
                          </a:solidFill>
                          <a:latin typeface="Microsoft JhengHei"/>
                        </a:rPr>
                        <a:t>預期成效（指標）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知識 PK 擂台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從高滲透遊戲化入口進場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承接 42% 遊戲化流量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分層排行榜 日/週/月/總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日榜每天歸零、有機會上榜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回訪↑ → 活躍天數↑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PK 答題（對戰）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娛樂化答題，產生學習訊號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參與度↑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答錯 → 45 秒軟著陸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看免費精華、被懸念勾住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降摩擦 → 看課轉換↑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AI 主動診斷雷達（主線）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AI 主動給下一步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接住斷點 → AI 滲透↑、學習深度↑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AI 去重推薦（熱門×1.5）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看不重複、對的課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去敷衍 → 看課轉換↑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7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多模態看課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影音/電子書/Podcast 任選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多元場景 → 影片觀看次↑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8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個人主頁（雷達總覽）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看見自己的成長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成長可視化 → 回訪動機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9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知識精靈 + 戰隊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EXP 綁看課、敲隊友喚回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FFFFF"/>
                          </a:solidFill>
                          <a:latin typeface="Microsoft JhengHei"/>
                        </a:rPr>
                        <a:t>社交喚回 → 活躍天數↑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3 / 如何運用資料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官方 6 張表，張張有用途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83080"/>
          <a:ext cx="1120140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834640"/>
                <a:gridCol w="5120640"/>
                <a:gridCol w="27889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官方資料表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本案用途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對應模組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①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AI助教提問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提問主題分布、知識缺口聚類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主動診斷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②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AI助教對話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找「問完就走」斷點、生成下一步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主動診斷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③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課程觀看數(7/14/30天)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熱門趨勢加乘、45秒錨點來源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軟著陸+推薦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④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會員觀看紀錄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去識別化行為矩陣、推薦去重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去重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⑤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知識挑戰各分類次數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分類雷達(玩5場解鎖)、決定精靈外型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精靈養成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⑥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接觸AI前後軌跡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量化漏斗、定位漫遊/流失斷點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FFFFFF"/>
                          </a:solidFill>
                          <a:latin typeface="Microsoft JhengHei"/>
                        </a:rPr>
                        <a:t>主動診斷+成效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洞察邏輯：先用資料「證明問題在哪」→ 再用產品「補那個斷點」→ 最後用資料「驗證有沒有補成功」。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4 / 成效衡量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對齊官方「商業影響力 30%」的口徑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7373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490118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主指標（滲透率 + 學習深度）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助教滲透率：11.7% → 目標翻倍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助教 DAU/MAU：&lt;10% → 20%+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影片觀看次 / Session / 活躍天數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94960" cy="17373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993392"/>
            <a:ext cx="499262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驗證一：主動化 + 軟著陸 A/B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對照：答錯直接撞付費牆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實驗：45秒軟著陸 → 主動下一步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比：續看 / 入會 / AI 使用轉換率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03320"/>
            <a:ext cx="5303520" cy="192024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867912"/>
            <a:ext cx="4901184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驗證二：遊戲化能否帶動看課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 組：只玩挑戰（死路）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B 組：挑戰 + EXP 綁看課養成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比挑戰後 7 天回訪看課率 / 活躍天數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成功判準：B 組 +30% 以上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703320"/>
            <a:ext cx="5394960" cy="192024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867912"/>
            <a:ext cx="4992624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AEBAD0"/>
                </a:solidFill>
                <a:latin typeface="Microsoft JhengHei"/>
              </a:rPr>
              <a:t>資料誠信聲明（Data Integrity）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曾見「用 AI 看課 1.83x」，但深查：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中位數僅 1.10x、相關係數 r≈0.04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→ 屬離群值假象，主動剔除不採用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改用 A/B 驗證因果（Q&amp;A 打不倒）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留存引擎 /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遊戲化：把流量變成每日回訪的黏著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42900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302666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分層排行榜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日/週/月/總四榜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日榜每天歸零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新人也能上榜 → 天天回訪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93392"/>
            <a:ext cx="302666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知識精靈 PiPi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沿用 PPA 官方 IG「PiPi」人格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外型由分類雷達總分決定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EXP 只能靠看課/用 AI 取得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993392"/>
            <a:ext cx="307238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六角徽章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上線時長、課程時長、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連勝、大富翁… 串成成就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可選 3 個展示炫耀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7132320" cy="19659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142231"/>
            <a:ext cx="6729984" cy="163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學習戰隊（社交喚回）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顯示隊友的 PiPi；每日共同任務＝一起看完某課；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「敲隊友一下」發提醒把「明天回來」變「明天回來看課」。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純訂閱/免費看課記錄 → 轉化為戰隊貢獻。</a:t>
            </a:r>
          </a:p>
        </p:txBody>
      </p:sp>
      <p:pic>
        <p:nvPicPr>
          <p:cNvPr id="15" name="Picture 14" descr="pipi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114800"/>
            <a:ext cx="1737360" cy="1737360"/>
          </a:xfrm>
          <a:prstGeom prst="rect">
            <a:avLst/>
          </a:prstGeom>
        </p:spPr>
      </p:pic>
      <p:pic>
        <p:nvPicPr>
          <p:cNvPr id="16" name="Picture 15" descr="pipi-ch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41148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/ 技術架構（AWS）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全程只用 AWS 服務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1874519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4901184" cy="1545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Amazon Bedrock（RAG + 主動生成）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撈 45 秒精華錨點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生成知識缺口診斷 + 下一步路徑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94960" cy="1874519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993392"/>
            <a:ext cx="4992624" cy="1545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Amazon DynamoDB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去識別化 Session Token 存行為足跡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支撐長期記憶與推薦去重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303520" cy="1874519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05072"/>
            <a:ext cx="4901184" cy="1545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3DDC97"/>
                </a:solidFill>
                <a:latin typeface="Microsoft JhengHei"/>
              </a:rPr>
              <a:t>向量檢索排除機制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RAG 撈最匹配 3 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排除該 Session 已看 &gt;80% 的內容 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394960" cy="1874519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4005072"/>
            <a:ext cx="4992624" cy="15453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7A81B"/>
                </a:solidFill>
                <a:latin typeface="Microsoft JhengHei"/>
              </a:rPr>
              <a:t>Amazon Titan（IP Indemnity）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具智財賠償保證的繪圖模型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參數化紙娃娃 → 寵物生成 100% 商業安全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隱私合規：去識別化 + Opt-in 授權（開啟雷達/戰隊時取得同意），符合 GDPR / CCPA。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交付 / 可互動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手機版 Web，9 個畫面可點擊跑完整動線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2194560"/>
          </a:xfrm>
          <a:prstGeom prst="roundRect">
            <a:avLst/>
          </a:prstGeom>
          <a:solidFill>
            <a:srgbClr val="152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79024" cy="1865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25D0EE"/>
                </a:solidFill>
                <a:latin typeface="Microsoft JhengHei"/>
              </a:rPr>
              <a:t>一條龍動線（真實用戶視角）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擂台 → 排行榜 → PK 答題（選錯）→ 45 秒軟著陸 → AI 診斷雷達 →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AI 去重推薦 → 多模態看課 → 個人主頁 → 知識精靈 + 戰隊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/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EBAD0"/>
                </a:solidFill>
                <a:latin typeface="Microsoft JhengHei"/>
              </a:rPr>
              <a:t>React + Vite + Tailwind｜純 SVG 雷達圖｜精靈用真圖，未放圖自動 fallback 不會壞。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10881360" cy="1371600"/>
          </a:xfrm>
          <a:prstGeom prst="round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3272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EBAD0"/>
                </a:solidFill>
                <a:latin typeface="Microsoft JhengHei"/>
              </a:rPr>
              <a:t>線上實機（AWS Amplify Hosting，任何裝置可開）：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7A81B"/>
                </a:solidFill>
                <a:latin typeface="Microsoft JhengHei"/>
              </a:rPr>
              <a:t>https://main.d17rjg8zasvsbn.amplifyapp.com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D0EE"/>
                </a:solidFill>
                <a:latin typeface="Microsoft JhengHei"/>
              </a:rPr>
              <a:t>自評 / Rubric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</a:rPr>
              <a:t>我們如何命中每一項評分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536192"/>
            <a:ext cx="2011680" cy="38100"/>
          </a:xfrm>
          <a:prstGeom prst="rect">
            <a:avLst/>
          </a:prstGeom>
          <a:solidFill>
            <a:srgbClr val="F7A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28800"/>
          <a:ext cx="10881359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1188720"/>
                <a:gridCol w="7498079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評分項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權重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C1D3D"/>
                          </a:solidFill>
                          <a:latin typeface="Microsoft JhengHei"/>
                        </a:rPr>
                        <a:t>本案對應</a:t>
                      </a:r>
                    </a:p>
                  </a:txBody>
                  <a:tcPr marL="91440" marR="73152" marT="27432" marB="27432" anchor="ctr">
                    <a:solidFill>
                      <a:srgbClr val="F7A81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商業影響力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30%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主指標＝滲透率/DAU/學習深度；會員擴散＝擴大 AI 觸及池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創新度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25%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AI 被動→主動診斷、跨場景多模態，跳脫右側對話框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資料洞察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20%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用 ①②⑥ 對話/軌跡資料證明斷點，資料驅動設計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完成度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15%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可互動 Web Demo，9 畫面完整動線 + 線上實機</a:t>
                      </a:r>
                    </a:p>
                  </a:txBody>
                  <a:tcPr marL="91440" marR="73152" marT="27432" marB="27432" anchor="ctr">
                    <a:solidFill>
                      <a:srgbClr val="0A1730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技術性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10%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FFFFFF"/>
                          </a:solidFill>
                          <a:latin typeface="Microsoft JhengHei"/>
                        </a:rPr>
                        <a:t>Bedrock RAG + 主動生成 + DynamoDB 去重 + Titan 合規生圖</a:t>
                      </a:r>
                    </a:p>
                  </a:txBody>
                  <a:tcPr marL="91440" marR="73152" marT="27432" marB="27432" anchor="ctr">
                    <a:solidFill>
                      <a:srgbClr val="15294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2191695" cy="2103120"/>
          </a:xfrm>
          <a:prstGeom prst="rect">
            <a:avLst/>
          </a:prstGeom>
          <a:solidFill>
            <a:srgbClr val="0A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AI 助教不該是「少數人才知道的祕密武器」。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Microsoft JhengHei"/>
              </a:rPr>
              <a:t>我們讓它主動出擊、多維賦能、跨場景，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7A81B"/>
                </a:solidFill>
                <a:latin typeface="Microsoft JhengHei"/>
              </a:rPr>
              <a:t>把已驗證的 +700% 學習效果，擴散給每一位用戶。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5D0EE"/>
                </a:solidFill>
                <a:latin typeface="Microsoft JhengHei"/>
              </a:rPr>
              <a:t>團隊 fish　|　感謝聆聽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AEBAD0"/>
                </a:solidFill>
                <a:latin typeface="Microsoft JhengHei"/>
              </a:rPr>
              <a:t>Demo：https://main.d17rjg8zasvsbn.amplifyapp.com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